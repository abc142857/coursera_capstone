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3"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114" d="100"/>
          <a:sy n="114" d="100"/>
        </p:scale>
        <p:origin x="47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zh-TW" altLang="en-US"/>
              <a:t>按一下以編輯母片標題樣式</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BBC7CE43-9D9B-41C6-A1C4-859053710AB6}" type="datetimeFigureOut">
              <a:rPr lang="zh-HK" altLang="en-US" smtClean="0"/>
              <a:t>16/4/2020</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7D6DC21-F3FA-48A3-9E43-ACCC88218335}" type="slidenum">
              <a:rPr lang="zh-HK" altLang="en-US" smtClean="0"/>
              <a:t>‹#›</a:t>
            </a:fld>
            <a:endParaRPr lang="zh-HK" altLang="en-US"/>
          </a:p>
        </p:txBody>
      </p:sp>
    </p:spTree>
    <p:extLst>
      <p:ext uri="{BB962C8B-B14F-4D97-AF65-F5344CB8AC3E}">
        <p14:creationId xmlns:p14="http://schemas.microsoft.com/office/powerpoint/2010/main" val="3544786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BC7CE43-9D9B-41C6-A1C4-859053710AB6}" type="datetimeFigureOut">
              <a:rPr lang="zh-HK" altLang="en-US" smtClean="0"/>
              <a:t>16/4/2020</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7D6DC21-F3FA-48A3-9E43-ACCC88218335}" type="slidenum">
              <a:rPr lang="zh-HK" altLang="en-US" smtClean="0"/>
              <a:t>‹#›</a:t>
            </a:fld>
            <a:endParaRPr lang="zh-HK" altLang="en-US"/>
          </a:p>
        </p:txBody>
      </p:sp>
    </p:spTree>
    <p:extLst>
      <p:ext uri="{BB962C8B-B14F-4D97-AF65-F5344CB8AC3E}">
        <p14:creationId xmlns:p14="http://schemas.microsoft.com/office/powerpoint/2010/main" val="2396430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BBC7CE43-9D9B-41C6-A1C4-859053710AB6}" type="datetimeFigureOut">
              <a:rPr lang="zh-HK" altLang="en-US" smtClean="0"/>
              <a:t>16/4/2020</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7D6DC21-F3FA-48A3-9E43-ACCC88218335}" type="slidenum">
              <a:rPr lang="zh-HK" altLang="en-US" smtClean="0"/>
              <a:t>‹#›</a:t>
            </a:fld>
            <a:endParaRPr lang="zh-HK" altLang="en-US"/>
          </a:p>
        </p:txBody>
      </p:sp>
    </p:spTree>
    <p:extLst>
      <p:ext uri="{BB962C8B-B14F-4D97-AF65-F5344CB8AC3E}">
        <p14:creationId xmlns:p14="http://schemas.microsoft.com/office/powerpoint/2010/main" val="358202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BBC7CE43-9D9B-41C6-A1C4-859053710AB6}" type="datetimeFigureOut">
              <a:rPr lang="zh-HK" altLang="en-US" smtClean="0"/>
              <a:t>16/4/2020</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97D6DC21-F3FA-48A3-9E43-ACCC88218335}" type="slidenum">
              <a:rPr lang="zh-HK" altLang="en-US" smtClean="0"/>
              <a:t>‹#›</a:t>
            </a:fld>
            <a:endParaRPr lang="zh-HK" altLang="en-US"/>
          </a:p>
        </p:txBody>
      </p:sp>
    </p:spTree>
    <p:extLst>
      <p:ext uri="{BB962C8B-B14F-4D97-AF65-F5344CB8AC3E}">
        <p14:creationId xmlns:p14="http://schemas.microsoft.com/office/powerpoint/2010/main" val="3787899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BBC7CE43-9D9B-41C6-A1C4-859053710AB6}" type="datetimeFigureOut">
              <a:rPr lang="zh-HK" altLang="en-US" smtClean="0"/>
              <a:t>16/4/2020</a:t>
            </a:fld>
            <a:endParaRPr lang="zh-HK" altLang="en-US"/>
          </a:p>
        </p:txBody>
      </p:sp>
      <p:sp>
        <p:nvSpPr>
          <p:cNvPr id="8" name="Footer Placeholder 7"/>
          <p:cNvSpPr>
            <a:spLocks noGrp="1"/>
          </p:cNvSpPr>
          <p:nvPr>
            <p:ph type="ftr" sz="quarter" idx="11"/>
          </p:nvPr>
        </p:nvSpPr>
        <p:spPr/>
        <p:txBody>
          <a:bodyPr/>
          <a:lstStyle/>
          <a:p>
            <a:endParaRPr lang="zh-HK" altLang="en-US"/>
          </a:p>
        </p:txBody>
      </p:sp>
      <p:sp>
        <p:nvSpPr>
          <p:cNvPr id="9" name="Slide Number Placeholder 8"/>
          <p:cNvSpPr>
            <a:spLocks noGrp="1"/>
          </p:cNvSpPr>
          <p:nvPr>
            <p:ph type="sldNum" sz="quarter" idx="12"/>
          </p:nvPr>
        </p:nvSpPr>
        <p:spPr/>
        <p:txBody>
          <a:bodyPr/>
          <a:lstStyle/>
          <a:p>
            <a:fld id="{97D6DC21-F3FA-48A3-9E43-ACCC88218335}" type="slidenum">
              <a:rPr lang="zh-HK" altLang="en-US" smtClean="0"/>
              <a:t>‹#›</a:t>
            </a:fld>
            <a:endParaRPr lang="zh-HK" altLang="en-US"/>
          </a:p>
        </p:txBody>
      </p:sp>
    </p:spTree>
    <p:extLst>
      <p:ext uri="{BB962C8B-B14F-4D97-AF65-F5344CB8AC3E}">
        <p14:creationId xmlns:p14="http://schemas.microsoft.com/office/powerpoint/2010/main" val="1747046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BBC7CE43-9D9B-41C6-A1C4-859053710AB6}" type="datetimeFigureOut">
              <a:rPr lang="zh-HK" altLang="en-US" smtClean="0"/>
              <a:t>16/4/2020</a:t>
            </a:fld>
            <a:endParaRPr lang="zh-HK" altLang="en-US"/>
          </a:p>
        </p:txBody>
      </p:sp>
      <p:sp>
        <p:nvSpPr>
          <p:cNvPr id="4" name="Footer Placeholder 3"/>
          <p:cNvSpPr>
            <a:spLocks noGrp="1"/>
          </p:cNvSpPr>
          <p:nvPr>
            <p:ph type="ftr" sz="quarter" idx="11"/>
          </p:nvPr>
        </p:nvSpPr>
        <p:spPr/>
        <p:txBody>
          <a:bodyPr/>
          <a:lstStyle/>
          <a:p>
            <a:endParaRPr lang="zh-HK" altLang="en-US"/>
          </a:p>
        </p:txBody>
      </p:sp>
      <p:sp>
        <p:nvSpPr>
          <p:cNvPr id="5" name="Slide Number Placeholder 4"/>
          <p:cNvSpPr>
            <a:spLocks noGrp="1"/>
          </p:cNvSpPr>
          <p:nvPr>
            <p:ph type="sldNum" sz="quarter" idx="12"/>
          </p:nvPr>
        </p:nvSpPr>
        <p:spPr/>
        <p:txBody>
          <a:bodyPr/>
          <a:lstStyle/>
          <a:p>
            <a:fld id="{97D6DC21-F3FA-48A3-9E43-ACCC88218335}" type="slidenum">
              <a:rPr lang="zh-HK" altLang="en-US" smtClean="0"/>
              <a:t>‹#›</a:t>
            </a:fld>
            <a:endParaRPr lang="zh-HK" altLang="en-US"/>
          </a:p>
        </p:txBody>
      </p:sp>
    </p:spTree>
    <p:extLst>
      <p:ext uri="{BB962C8B-B14F-4D97-AF65-F5344CB8AC3E}">
        <p14:creationId xmlns:p14="http://schemas.microsoft.com/office/powerpoint/2010/main" val="2438084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C7CE43-9D9B-41C6-A1C4-859053710AB6}" type="datetimeFigureOut">
              <a:rPr lang="zh-HK" altLang="en-US" smtClean="0"/>
              <a:t>16/4/2020</a:t>
            </a:fld>
            <a:endParaRPr lang="zh-HK" altLang="en-US"/>
          </a:p>
        </p:txBody>
      </p:sp>
      <p:sp>
        <p:nvSpPr>
          <p:cNvPr id="3" name="Footer Placeholder 2"/>
          <p:cNvSpPr>
            <a:spLocks noGrp="1"/>
          </p:cNvSpPr>
          <p:nvPr>
            <p:ph type="ftr" sz="quarter" idx="11"/>
          </p:nvPr>
        </p:nvSpPr>
        <p:spPr/>
        <p:txBody>
          <a:bodyPr/>
          <a:lstStyle/>
          <a:p>
            <a:endParaRPr lang="zh-HK" altLang="en-US"/>
          </a:p>
        </p:txBody>
      </p:sp>
      <p:sp>
        <p:nvSpPr>
          <p:cNvPr id="4" name="Slide Number Placeholder 3"/>
          <p:cNvSpPr>
            <a:spLocks noGrp="1"/>
          </p:cNvSpPr>
          <p:nvPr>
            <p:ph type="sldNum" sz="quarter" idx="12"/>
          </p:nvPr>
        </p:nvSpPr>
        <p:spPr/>
        <p:txBody>
          <a:bodyPr/>
          <a:lstStyle/>
          <a:p>
            <a:fld id="{97D6DC21-F3FA-48A3-9E43-ACCC88218335}" type="slidenum">
              <a:rPr lang="zh-HK" altLang="en-US" smtClean="0"/>
              <a:t>‹#›</a:t>
            </a:fld>
            <a:endParaRPr lang="zh-HK" altLang="en-US"/>
          </a:p>
        </p:txBody>
      </p:sp>
    </p:spTree>
    <p:extLst>
      <p:ext uri="{BB962C8B-B14F-4D97-AF65-F5344CB8AC3E}">
        <p14:creationId xmlns:p14="http://schemas.microsoft.com/office/powerpoint/2010/main" val="1560669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zh-TW" altLang="en-US"/>
              <a:t>按一下以編輯母片標題樣式</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BBC7CE43-9D9B-41C6-A1C4-859053710AB6}" type="datetimeFigureOut">
              <a:rPr lang="zh-HK" altLang="en-US" smtClean="0"/>
              <a:t>16/4/2020</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97D6DC21-F3FA-48A3-9E43-ACCC88218335}" type="slidenum">
              <a:rPr lang="zh-HK" altLang="en-US" smtClean="0"/>
              <a:t>‹#›</a:t>
            </a:fld>
            <a:endParaRPr lang="zh-HK" altLang="en-US"/>
          </a:p>
        </p:txBody>
      </p:sp>
    </p:spTree>
    <p:extLst>
      <p:ext uri="{BB962C8B-B14F-4D97-AF65-F5344CB8AC3E}">
        <p14:creationId xmlns:p14="http://schemas.microsoft.com/office/powerpoint/2010/main" val="223240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BBC7CE43-9D9B-41C6-A1C4-859053710AB6}" type="datetimeFigureOut">
              <a:rPr lang="zh-HK" altLang="en-US" smtClean="0"/>
              <a:t>16/4/2020</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97D6DC21-F3FA-48A3-9E43-ACCC88218335}" type="slidenum">
              <a:rPr lang="zh-HK" altLang="en-US" smtClean="0"/>
              <a:t>‹#›</a:t>
            </a:fld>
            <a:endParaRPr lang="zh-HK" altLang="en-US"/>
          </a:p>
        </p:txBody>
      </p:sp>
    </p:spTree>
    <p:extLst>
      <p:ext uri="{BB962C8B-B14F-4D97-AF65-F5344CB8AC3E}">
        <p14:creationId xmlns:p14="http://schemas.microsoft.com/office/powerpoint/2010/main" val="236991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標題與輔助字幕">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BBC7CE43-9D9B-41C6-A1C4-859053710AB6}" type="datetimeFigureOut">
              <a:rPr lang="zh-HK" altLang="en-US" smtClean="0"/>
              <a:t>16/4/2020</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7D6DC21-F3FA-48A3-9E43-ACCC88218335}" type="slidenum">
              <a:rPr lang="zh-HK" altLang="en-US" smtClean="0"/>
              <a:t>‹#›</a:t>
            </a:fld>
            <a:endParaRPr lang="zh-HK" altLang="en-US"/>
          </a:p>
        </p:txBody>
      </p:sp>
    </p:spTree>
    <p:extLst>
      <p:ext uri="{BB962C8B-B14F-4D97-AF65-F5344CB8AC3E}">
        <p14:creationId xmlns:p14="http://schemas.microsoft.com/office/powerpoint/2010/main" val="3938451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述 (含輔助字幕)">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TW" altLang="en-US"/>
              <a:t>按一下以編輯母片標題樣式</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a:t>按一下以編輯母片文字樣式</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BBC7CE43-9D9B-41C6-A1C4-859053710AB6}" type="datetimeFigureOut">
              <a:rPr lang="zh-HK" altLang="en-US" smtClean="0"/>
              <a:t>16/4/2020</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7D6DC21-F3FA-48A3-9E43-ACCC88218335}" type="slidenum">
              <a:rPr lang="zh-HK" altLang="en-US" smtClean="0"/>
              <a:t>‹#›</a:t>
            </a:fld>
            <a:endParaRPr lang="zh-HK" alt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4845744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BBC7CE43-9D9B-41C6-A1C4-859053710AB6}" type="datetimeFigureOut">
              <a:rPr lang="zh-HK" altLang="en-US" smtClean="0"/>
              <a:t>16/4/2020</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7D6DC21-F3FA-48A3-9E43-ACCC88218335}" type="slidenum">
              <a:rPr lang="zh-HK" altLang="en-US" smtClean="0"/>
              <a:t>‹#›</a:t>
            </a:fld>
            <a:endParaRPr lang="zh-HK" altLang="en-US"/>
          </a:p>
        </p:txBody>
      </p:sp>
    </p:spTree>
    <p:extLst>
      <p:ext uri="{BB962C8B-B14F-4D97-AF65-F5344CB8AC3E}">
        <p14:creationId xmlns:p14="http://schemas.microsoft.com/office/powerpoint/2010/main" val="17128743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述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TW" altLang="en-US"/>
              <a:t>按一下以編輯母片標題樣式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a:t>按一下以編輯母片文字樣式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BBC7CE43-9D9B-41C6-A1C4-859053710AB6}" type="datetimeFigureOut">
              <a:rPr lang="zh-HK" altLang="en-US" smtClean="0"/>
              <a:t>16/4/2020</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7D6DC21-F3FA-48A3-9E43-ACCC88218335}" type="slidenum">
              <a:rPr lang="zh-HK" altLang="en-US" smtClean="0"/>
              <a:t>‹#›</a:t>
            </a:fld>
            <a:endParaRPr lang="zh-HK"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012468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是非題">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zh-TW" altLang="en-US"/>
              <a:t>按一下以編輯母片標題樣式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a:t>按一下以編輯母片文字樣式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BBC7CE43-9D9B-41C6-A1C4-859053710AB6}" type="datetimeFigureOut">
              <a:rPr lang="zh-HK" altLang="en-US" smtClean="0"/>
              <a:t>16/4/2020</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7D6DC21-F3FA-48A3-9E43-ACCC88218335}" type="slidenum">
              <a:rPr lang="zh-HK" altLang="en-US" smtClean="0"/>
              <a:t>‹#›</a:t>
            </a:fld>
            <a:endParaRPr lang="zh-HK" altLang="en-US"/>
          </a:p>
        </p:txBody>
      </p:sp>
    </p:spTree>
    <p:extLst>
      <p:ext uri="{BB962C8B-B14F-4D97-AF65-F5344CB8AC3E}">
        <p14:creationId xmlns:p14="http://schemas.microsoft.com/office/powerpoint/2010/main" val="2310024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BC7CE43-9D9B-41C6-A1C4-859053710AB6}" type="datetimeFigureOut">
              <a:rPr lang="zh-HK" altLang="en-US" smtClean="0"/>
              <a:t>16/4/2020</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7D6DC21-F3FA-48A3-9E43-ACCC88218335}" type="slidenum">
              <a:rPr lang="zh-HK" altLang="en-US" smtClean="0"/>
              <a:t>‹#›</a:t>
            </a:fld>
            <a:endParaRPr lang="zh-HK" altLang="en-US"/>
          </a:p>
        </p:txBody>
      </p:sp>
    </p:spTree>
    <p:extLst>
      <p:ext uri="{BB962C8B-B14F-4D97-AF65-F5344CB8AC3E}">
        <p14:creationId xmlns:p14="http://schemas.microsoft.com/office/powerpoint/2010/main" val="10402782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BC7CE43-9D9B-41C6-A1C4-859053710AB6}" type="datetimeFigureOut">
              <a:rPr lang="zh-HK" altLang="en-US" smtClean="0"/>
              <a:t>16/4/2020</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7D6DC21-F3FA-48A3-9E43-ACCC88218335}" type="slidenum">
              <a:rPr lang="zh-HK" altLang="en-US" smtClean="0"/>
              <a:t>‹#›</a:t>
            </a:fld>
            <a:endParaRPr lang="zh-HK" altLang="en-US"/>
          </a:p>
        </p:txBody>
      </p:sp>
    </p:spTree>
    <p:extLst>
      <p:ext uri="{BB962C8B-B14F-4D97-AF65-F5344CB8AC3E}">
        <p14:creationId xmlns:p14="http://schemas.microsoft.com/office/powerpoint/2010/main" val="421584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BC7CE43-9D9B-41C6-A1C4-859053710AB6}" type="datetimeFigureOut">
              <a:rPr lang="zh-HK" altLang="en-US" smtClean="0"/>
              <a:t>16/4/2020</a:t>
            </a:fld>
            <a:endParaRPr lang="zh-HK"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HK"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7D6DC21-F3FA-48A3-9E43-ACCC88218335}" type="slidenum">
              <a:rPr lang="zh-HK" altLang="en-US" smtClean="0"/>
              <a:t>‹#›</a:t>
            </a:fld>
            <a:endParaRPr lang="zh-HK" altLang="en-US"/>
          </a:p>
        </p:txBody>
      </p:sp>
    </p:spTree>
    <p:extLst>
      <p:ext uri="{BB962C8B-B14F-4D97-AF65-F5344CB8AC3E}">
        <p14:creationId xmlns:p14="http://schemas.microsoft.com/office/powerpoint/2010/main" val="32537183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opendata.esrichina.hk/datasets/eea8ff2f12b145f7b33c4eef4f045513_0" TargetMode="External"/><Relationship Id="rId2" Type="http://schemas.openxmlformats.org/officeDocument/2006/relationships/hyperlink" Target="https://data.gov.hk/en/geospatial-data"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24FF779-BE01-42AD-AFEB-9C8E68F6DAA8}"/>
              </a:ext>
            </a:extLst>
          </p:cNvPr>
          <p:cNvSpPr>
            <a:spLocks noGrp="1"/>
          </p:cNvSpPr>
          <p:nvPr>
            <p:ph type="ctrTitle"/>
          </p:nvPr>
        </p:nvSpPr>
        <p:spPr/>
        <p:txBody>
          <a:bodyPr>
            <a:normAutofit fontScale="90000"/>
          </a:bodyPr>
          <a:lstStyle/>
          <a:p>
            <a:r>
              <a:rPr lang="en-US" altLang="zh-HK" b="1" dirty="0"/>
              <a:t>Applied Data Science Capstone Project</a:t>
            </a:r>
            <a:br>
              <a:rPr lang="en-US" altLang="zh-HK" b="1" dirty="0"/>
            </a:br>
            <a:endParaRPr lang="zh-HK" altLang="en-US" dirty="0"/>
          </a:p>
        </p:txBody>
      </p:sp>
      <p:sp>
        <p:nvSpPr>
          <p:cNvPr id="3" name="副標題 2">
            <a:extLst>
              <a:ext uri="{FF2B5EF4-FFF2-40B4-BE49-F238E27FC236}">
                <a16:creationId xmlns:a16="http://schemas.microsoft.com/office/drawing/2014/main" id="{6E85052F-32AD-4FDB-90CE-EF48B403DB41}"/>
              </a:ext>
            </a:extLst>
          </p:cNvPr>
          <p:cNvSpPr>
            <a:spLocks noGrp="1"/>
          </p:cNvSpPr>
          <p:nvPr>
            <p:ph type="subTitle" idx="1"/>
          </p:nvPr>
        </p:nvSpPr>
        <p:spPr/>
        <p:txBody>
          <a:bodyPr/>
          <a:lstStyle/>
          <a:p>
            <a:r>
              <a:rPr lang="en-US" altLang="zh-HK" dirty="0"/>
              <a:t>Recreation facilities density in Hong Kong Districts</a:t>
            </a:r>
            <a:endParaRPr lang="zh-HK" altLang="en-US" dirty="0"/>
          </a:p>
        </p:txBody>
      </p:sp>
    </p:spTree>
    <p:extLst>
      <p:ext uri="{BB962C8B-B14F-4D97-AF65-F5344CB8AC3E}">
        <p14:creationId xmlns:p14="http://schemas.microsoft.com/office/powerpoint/2010/main" val="448875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88EF9E-E928-4F3B-92E8-D89D523EBCF0}"/>
              </a:ext>
            </a:extLst>
          </p:cNvPr>
          <p:cNvSpPr>
            <a:spLocks noGrp="1"/>
          </p:cNvSpPr>
          <p:nvPr>
            <p:ph type="title"/>
          </p:nvPr>
        </p:nvSpPr>
        <p:spPr/>
        <p:txBody>
          <a:bodyPr/>
          <a:lstStyle/>
          <a:p>
            <a:r>
              <a:rPr lang="en-US" altLang="zh-HK" b="1" dirty="0"/>
              <a:t>Introduction</a:t>
            </a:r>
            <a:br>
              <a:rPr lang="en-US" altLang="zh-HK" b="1" dirty="0"/>
            </a:br>
            <a:endParaRPr lang="zh-HK" altLang="en-US" dirty="0"/>
          </a:p>
        </p:txBody>
      </p:sp>
      <p:sp>
        <p:nvSpPr>
          <p:cNvPr id="3" name="內容版面配置區 2">
            <a:extLst>
              <a:ext uri="{FF2B5EF4-FFF2-40B4-BE49-F238E27FC236}">
                <a16:creationId xmlns:a16="http://schemas.microsoft.com/office/drawing/2014/main" id="{F28042C4-8AE4-4283-9329-30B24696161E}"/>
              </a:ext>
            </a:extLst>
          </p:cNvPr>
          <p:cNvSpPr>
            <a:spLocks noGrp="1"/>
          </p:cNvSpPr>
          <p:nvPr>
            <p:ph idx="1"/>
          </p:nvPr>
        </p:nvSpPr>
        <p:spPr/>
        <p:txBody>
          <a:bodyPr>
            <a:normAutofit/>
          </a:bodyPr>
          <a:lstStyle/>
          <a:p>
            <a:r>
              <a:rPr lang="en-US" altLang="zh-HK" sz="2400" dirty="0"/>
              <a:t>The population of Hong Kong kept increasing in the past decades despite the already high population density.</a:t>
            </a:r>
          </a:p>
          <a:p>
            <a:r>
              <a:rPr lang="en-US" altLang="zh-HK" sz="2400" dirty="0"/>
              <a:t> There are complaints about the lack of public facilities including hospitals, car parks, recreation facilities etc. </a:t>
            </a:r>
          </a:p>
          <a:p>
            <a:r>
              <a:rPr lang="en-US" altLang="zh-HK" sz="2400" dirty="0"/>
              <a:t>In this project, I would like to find out which district in Hong Kong has the least number of recreation facilities normalized by the population of the district.</a:t>
            </a:r>
            <a:endParaRPr lang="zh-HK" altLang="en-US" sz="2400" dirty="0"/>
          </a:p>
        </p:txBody>
      </p:sp>
    </p:spTree>
    <p:extLst>
      <p:ext uri="{BB962C8B-B14F-4D97-AF65-F5344CB8AC3E}">
        <p14:creationId xmlns:p14="http://schemas.microsoft.com/office/powerpoint/2010/main" val="3360953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19FBEE-FAC1-4DB1-8027-C6E22E6B7050}"/>
              </a:ext>
            </a:extLst>
          </p:cNvPr>
          <p:cNvSpPr>
            <a:spLocks noGrp="1"/>
          </p:cNvSpPr>
          <p:nvPr>
            <p:ph type="title"/>
          </p:nvPr>
        </p:nvSpPr>
        <p:spPr/>
        <p:txBody>
          <a:bodyPr/>
          <a:lstStyle/>
          <a:p>
            <a:r>
              <a:rPr lang="en-US" altLang="zh-HK" dirty="0"/>
              <a:t>Data</a:t>
            </a:r>
            <a:endParaRPr lang="zh-HK" altLang="en-US" dirty="0"/>
          </a:p>
        </p:txBody>
      </p:sp>
      <p:sp>
        <p:nvSpPr>
          <p:cNvPr id="3" name="內容版面配置區 2">
            <a:extLst>
              <a:ext uri="{FF2B5EF4-FFF2-40B4-BE49-F238E27FC236}">
                <a16:creationId xmlns:a16="http://schemas.microsoft.com/office/drawing/2014/main" id="{A55E4FB2-2D8D-443D-B67F-7F03E6352C92}"/>
              </a:ext>
            </a:extLst>
          </p:cNvPr>
          <p:cNvSpPr>
            <a:spLocks noGrp="1"/>
          </p:cNvSpPr>
          <p:nvPr>
            <p:ph idx="1"/>
          </p:nvPr>
        </p:nvSpPr>
        <p:spPr>
          <a:xfrm>
            <a:off x="677333" y="2160589"/>
            <a:ext cx="9255231" cy="3880773"/>
          </a:xfrm>
        </p:spPr>
        <p:txBody>
          <a:bodyPr/>
          <a:lstStyle/>
          <a:p>
            <a:r>
              <a:rPr lang="en-US" altLang="zh-HK" dirty="0"/>
              <a:t>Recreation facility data (obtained from </a:t>
            </a:r>
            <a:r>
              <a:rPr lang="en-US" altLang="zh-HK" u="sng" dirty="0">
                <a:hlinkClick r:id="rId2"/>
              </a:rPr>
              <a:t>https://data.gov.hk/en/geospatial-data</a:t>
            </a:r>
            <a:r>
              <a:rPr lang="en-US" altLang="zh-HK" dirty="0"/>
              <a:t>)</a:t>
            </a:r>
          </a:p>
          <a:p>
            <a:r>
              <a:rPr lang="en-US" altLang="zh-HK" dirty="0"/>
              <a:t>Population data (also obtained from </a:t>
            </a:r>
            <a:r>
              <a:rPr lang="en-US" altLang="zh-HK" u="sng" dirty="0">
                <a:hlinkClick r:id="rId2"/>
              </a:rPr>
              <a:t>https://data.gov.hk/en/geospatial-data</a:t>
            </a:r>
            <a:r>
              <a:rPr lang="en-US" altLang="zh-HK" dirty="0"/>
              <a:t>)</a:t>
            </a:r>
          </a:p>
          <a:p>
            <a:r>
              <a:rPr lang="en-US" altLang="zh-HK" dirty="0"/>
              <a:t>Hong Kong district </a:t>
            </a:r>
            <a:r>
              <a:rPr lang="en-US" altLang="zh-HK" dirty="0" err="1"/>
              <a:t>geojson</a:t>
            </a:r>
            <a:r>
              <a:rPr lang="en-US" altLang="zh-HK" dirty="0"/>
              <a:t> file (obtained from </a:t>
            </a:r>
            <a:r>
              <a:rPr lang="en-US" altLang="zh-HK" u="sng" dirty="0">
                <a:hlinkClick r:id="rId3"/>
              </a:rPr>
              <a:t>http://opendata.esrichina.hk/datasets/eea8ff2f12b145f7b33c4eef4f045513_0</a:t>
            </a:r>
            <a:r>
              <a:rPr lang="en-US" altLang="zh-HK" dirty="0"/>
              <a:t>)</a:t>
            </a:r>
          </a:p>
          <a:p>
            <a:endParaRPr lang="zh-HK" altLang="en-US" dirty="0"/>
          </a:p>
        </p:txBody>
      </p:sp>
    </p:spTree>
    <p:extLst>
      <p:ext uri="{BB962C8B-B14F-4D97-AF65-F5344CB8AC3E}">
        <p14:creationId xmlns:p14="http://schemas.microsoft.com/office/powerpoint/2010/main" val="560312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BDB295-7A88-4125-AC2D-13BAFD21212F}"/>
              </a:ext>
            </a:extLst>
          </p:cNvPr>
          <p:cNvSpPr>
            <a:spLocks noGrp="1"/>
          </p:cNvSpPr>
          <p:nvPr>
            <p:ph type="title"/>
          </p:nvPr>
        </p:nvSpPr>
        <p:spPr/>
        <p:txBody>
          <a:bodyPr/>
          <a:lstStyle/>
          <a:p>
            <a:r>
              <a:rPr lang="en-US" altLang="zh-HK" b="1" dirty="0"/>
              <a:t>Methodology</a:t>
            </a:r>
            <a:br>
              <a:rPr lang="en-US" altLang="zh-HK" b="1" dirty="0"/>
            </a:br>
            <a:endParaRPr lang="zh-HK" altLang="en-US" dirty="0"/>
          </a:p>
        </p:txBody>
      </p:sp>
      <p:sp>
        <p:nvSpPr>
          <p:cNvPr id="3" name="內容版面配置區 2">
            <a:extLst>
              <a:ext uri="{FF2B5EF4-FFF2-40B4-BE49-F238E27FC236}">
                <a16:creationId xmlns:a16="http://schemas.microsoft.com/office/drawing/2014/main" id="{4A50D003-7BC9-409E-9168-87CB98243247}"/>
              </a:ext>
            </a:extLst>
          </p:cNvPr>
          <p:cNvSpPr>
            <a:spLocks noGrp="1"/>
          </p:cNvSpPr>
          <p:nvPr>
            <p:ph idx="1"/>
          </p:nvPr>
        </p:nvSpPr>
        <p:spPr/>
        <p:txBody>
          <a:bodyPr/>
          <a:lstStyle/>
          <a:p>
            <a:pPr>
              <a:buFont typeface="+mj-lt"/>
              <a:buAutoNum type="arabicPeriod"/>
            </a:pPr>
            <a:r>
              <a:rPr lang="en-US" altLang="zh-HK" dirty="0"/>
              <a:t>Get the recreation facility data and get the counting grouped by district</a:t>
            </a:r>
          </a:p>
          <a:p>
            <a:pPr>
              <a:buFont typeface="+mj-lt"/>
              <a:buAutoNum type="arabicPeriod"/>
            </a:pPr>
            <a:r>
              <a:rPr lang="en-US" altLang="zh-HK" dirty="0"/>
              <a:t>Get the population data stratified by district</a:t>
            </a:r>
          </a:p>
          <a:p>
            <a:pPr>
              <a:buFont typeface="+mj-lt"/>
              <a:buAutoNum type="arabicPeriod"/>
            </a:pPr>
            <a:r>
              <a:rPr lang="en-US" altLang="zh-HK" dirty="0"/>
              <a:t>Merge these data and calculate the number of facility per 10,000 population in each district</a:t>
            </a:r>
          </a:p>
          <a:p>
            <a:pPr>
              <a:buFont typeface="+mj-lt"/>
              <a:buAutoNum type="arabicPeriod"/>
            </a:pPr>
            <a:r>
              <a:rPr lang="en-US" altLang="zh-HK" dirty="0"/>
              <a:t>Use folium to plot a choropleth map showing the density of facilities in all districts</a:t>
            </a:r>
          </a:p>
          <a:p>
            <a:pPr>
              <a:buFont typeface="+mj-lt"/>
              <a:buAutoNum type="arabicPeriod"/>
            </a:pPr>
            <a:r>
              <a:rPr lang="en-US" altLang="zh-HK" dirty="0"/>
              <a:t>Find out the region with the lowest density</a:t>
            </a:r>
            <a:endParaRPr lang="zh-HK" altLang="en-US" dirty="0"/>
          </a:p>
        </p:txBody>
      </p:sp>
    </p:spTree>
    <p:extLst>
      <p:ext uri="{BB962C8B-B14F-4D97-AF65-F5344CB8AC3E}">
        <p14:creationId xmlns:p14="http://schemas.microsoft.com/office/powerpoint/2010/main" val="4145966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CEEA51-F751-4AF4-A4A2-4EBB45300ECE}"/>
              </a:ext>
            </a:extLst>
          </p:cNvPr>
          <p:cNvSpPr>
            <a:spLocks noGrp="1"/>
          </p:cNvSpPr>
          <p:nvPr>
            <p:ph type="title"/>
          </p:nvPr>
        </p:nvSpPr>
        <p:spPr/>
        <p:txBody>
          <a:bodyPr/>
          <a:lstStyle/>
          <a:p>
            <a:r>
              <a:rPr lang="en-US" altLang="zh-HK" dirty="0"/>
              <a:t>Result</a:t>
            </a:r>
            <a:endParaRPr lang="zh-HK" altLang="en-US" dirty="0"/>
          </a:p>
        </p:txBody>
      </p:sp>
      <p:sp>
        <p:nvSpPr>
          <p:cNvPr id="3" name="內容版面配置區 2">
            <a:extLst>
              <a:ext uri="{FF2B5EF4-FFF2-40B4-BE49-F238E27FC236}">
                <a16:creationId xmlns:a16="http://schemas.microsoft.com/office/drawing/2014/main" id="{9C5C6BA0-C3EC-4F95-B2C7-C0AD9BCF668B}"/>
              </a:ext>
            </a:extLst>
          </p:cNvPr>
          <p:cNvSpPr>
            <a:spLocks noGrp="1"/>
          </p:cNvSpPr>
          <p:nvPr>
            <p:ph idx="1"/>
          </p:nvPr>
        </p:nvSpPr>
        <p:spPr>
          <a:xfrm>
            <a:off x="677334" y="1330079"/>
            <a:ext cx="8596668" cy="600321"/>
          </a:xfrm>
        </p:spPr>
        <p:txBody>
          <a:bodyPr>
            <a:normAutofit lnSpcReduction="10000"/>
          </a:bodyPr>
          <a:lstStyle/>
          <a:p>
            <a:r>
              <a:rPr lang="en-US" altLang="zh-HK" dirty="0"/>
              <a:t>Tidied data frame showing the count of recreation facilities normalized by population number in every district in Hong Kong</a:t>
            </a:r>
            <a:endParaRPr lang="zh-HK" altLang="en-US" dirty="0"/>
          </a:p>
        </p:txBody>
      </p:sp>
      <p:pic>
        <p:nvPicPr>
          <p:cNvPr id="4" name="圖片 3">
            <a:extLst>
              <a:ext uri="{FF2B5EF4-FFF2-40B4-BE49-F238E27FC236}">
                <a16:creationId xmlns:a16="http://schemas.microsoft.com/office/drawing/2014/main" id="{7F32C588-ADBB-4AA7-B415-BF004849F495}"/>
              </a:ext>
            </a:extLst>
          </p:cNvPr>
          <p:cNvPicPr>
            <a:picLocks noChangeAspect="1"/>
          </p:cNvPicPr>
          <p:nvPr/>
        </p:nvPicPr>
        <p:blipFill>
          <a:blip r:embed="rId2"/>
          <a:stretch>
            <a:fillRect/>
          </a:stretch>
        </p:blipFill>
        <p:spPr>
          <a:xfrm>
            <a:off x="677334" y="1930400"/>
            <a:ext cx="4058216" cy="4848902"/>
          </a:xfrm>
          <a:prstGeom prst="rect">
            <a:avLst/>
          </a:prstGeom>
        </p:spPr>
      </p:pic>
    </p:spTree>
    <p:extLst>
      <p:ext uri="{BB962C8B-B14F-4D97-AF65-F5344CB8AC3E}">
        <p14:creationId xmlns:p14="http://schemas.microsoft.com/office/powerpoint/2010/main" val="1326789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22C1CDBF-712E-468F-A27A-CEBFA7AED8F2}"/>
              </a:ext>
            </a:extLst>
          </p:cNvPr>
          <p:cNvSpPr>
            <a:spLocks noGrp="1"/>
          </p:cNvSpPr>
          <p:nvPr>
            <p:ph idx="1"/>
          </p:nvPr>
        </p:nvSpPr>
        <p:spPr>
          <a:xfrm>
            <a:off x="559888" y="692515"/>
            <a:ext cx="8596668" cy="3880773"/>
          </a:xfrm>
        </p:spPr>
        <p:txBody>
          <a:bodyPr/>
          <a:lstStyle/>
          <a:p>
            <a:r>
              <a:rPr lang="en-US" altLang="zh-TW" dirty="0"/>
              <a:t>C</a:t>
            </a:r>
            <a:r>
              <a:rPr lang="en-US" altLang="zh-HK" dirty="0"/>
              <a:t>horopleth map showing the density of facilities in all districts</a:t>
            </a:r>
            <a:r>
              <a:rPr lang="en-US" altLang="zh-TW" dirty="0"/>
              <a:t>, with</a:t>
            </a:r>
            <a:r>
              <a:rPr lang="zh-TW" altLang="en-US" dirty="0"/>
              <a:t> </a:t>
            </a:r>
            <a:r>
              <a:rPr lang="en-US" altLang="zh-TW" dirty="0"/>
              <a:t>the</a:t>
            </a:r>
            <a:r>
              <a:rPr lang="zh-TW" altLang="en-US" dirty="0"/>
              <a:t> </a:t>
            </a:r>
            <a:r>
              <a:rPr lang="en-US" altLang="zh-TW" dirty="0"/>
              <a:t>eastern</a:t>
            </a:r>
            <a:r>
              <a:rPr lang="zh-TW" altLang="en-US" dirty="0"/>
              <a:t> </a:t>
            </a:r>
            <a:r>
              <a:rPr lang="en-US" altLang="zh-TW" dirty="0"/>
              <a:t>region</a:t>
            </a:r>
            <a:r>
              <a:rPr lang="zh-TW" altLang="en-US" dirty="0"/>
              <a:t> </a:t>
            </a:r>
            <a:r>
              <a:rPr lang="en-US" altLang="zh-TW" dirty="0"/>
              <a:t>having</a:t>
            </a:r>
            <a:r>
              <a:rPr lang="zh-TW" altLang="en-US" dirty="0"/>
              <a:t> </a:t>
            </a:r>
            <a:r>
              <a:rPr lang="en-US" altLang="zh-TW" dirty="0"/>
              <a:t>the</a:t>
            </a:r>
            <a:r>
              <a:rPr lang="zh-TW" altLang="en-US" dirty="0"/>
              <a:t> </a:t>
            </a:r>
            <a:r>
              <a:rPr lang="en-US" altLang="zh-TW" dirty="0"/>
              <a:t>lowest</a:t>
            </a:r>
            <a:r>
              <a:rPr lang="zh-TW" altLang="en-US" dirty="0"/>
              <a:t> </a:t>
            </a:r>
            <a:r>
              <a:rPr lang="en-US" altLang="zh-TW" dirty="0"/>
              <a:t>density</a:t>
            </a:r>
            <a:endParaRPr lang="zh-HK" altLang="en-US" dirty="0"/>
          </a:p>
        </p:txBody>
      </p:sp>
      <p:pic>
        <p:nvPicPr>
          <p:cNvPr id="4" name="圖片 3">
            <a:extLst>
              <a:ext uri="{FF2B5EF4-FFF2-40B4-BE49-F238E27FC236}">
                <a16:creationId xmlns:a16="http://schemas.microsoft.com/office/drawing/2014/main" id="{88A404F8-3855-4FFF-9D44-7512DB5F9FEE}"/>
              </a:ext>
            </a:extLst>
          </p:cNvPr>
          <p:cNvPicPr>
            <a:picLocks noChangeAspect="1"/>
          </p:cNvPicPr>
          <p:nvPr/>
        </p:nvPicPr>
        <p:blipFill>
          <a:blip r:embed="rId2"/>
          <a:stretch>
            <a:fillRect/>
          </a:stretch>
        </p:blipFill>
        <p:spPr>
          <a:xfrm>
            <a:off x="559888" y="1770076"/>
            <a:ext cx="8450411" cy="5056393"/>
          </a:xfrm>
          <a:prstGeom prst="rect">
            <a:avLst/>
          </a:prstGeom>
        </p:spPr>
      </p:pic>
    </p:spTree>
    <p:extLst>
      <p:ext uri="{BB962C8B-B14F-4D97-AF65-F5344CB8AC3E}">
        <p14:creationId xmlns:p14="http://schemas.microsoft.com/office/powerpoint/2010/main" val="1620411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DA42EF6-A74E-4277-B938-795A0CFFCB44}"/>
              </a:ext>
            </a:extLst>
          </p:cNvPr>
          <p:cNvSpPr>
            <a:spLocks noGrp="1"/>
          </p:cNvSpPr>
          <p:nvPr>
            <p:ph type="title"/>
          </p:nvPr>
        </p:nvSpPr>
        <p:spPr/>
        <p:txBody>
          <a:bodyPr/>
          <a:lstStyle/>
          <a:p>
            <a:r>
              <a:rPr lang="en-US" altLang="zh-HK" dirty="0"/>
              <a:t>Discussion</a:t>
            </a:r>
            <a:endParaRPr lang="zh-HK" altLang="en-US" dirty="0"/>
          </a:p>
        </p:txBody>
      </p:sp>
      <p:sp>
        <p:nvSpPr>
          <p:cNvPr id="3" name="內容版面配置區 2">
            <a:extLst>
              <a:ext uri="{FF2B5EF4-FFF2-40B4-BE49-F238E27FC236}">
                <a16:creationId xmlns:a16="http://schemas.microsoft.com/office/drawing/2014/main" id="{70634E52-B453-4C75-B59B-B98177FB89D7}"/>
              </a:ext>
            </a:extLst>
          </p:cNvPr>
          <p:cNvSpPr>
            <a:spLocks noGrp="1"/>
          </p:cNvSpPr>
          <p:nvPr>
            <p:ph idx="1"/>
          </p:nvPr>
        </p:nvSpPr>
        <p:spPr>
          <a:xfrm>
            <a:off x="677334" y="1388801"/>
            <a:ext cx="8596668" cy="3880773"/>
          </a:xfrm>
        </p:spPr>
        <p:txBody>
          <a:bodyPr>
            <a:normAutofit lnSpcReduction="10000"/>
          </a:bodyPr>
          <a:lstStyle/>
          <a:p>
            <a:r>
              <a:rPr lang="en-US" altLang="zh-HK" dirty="0"/>
              <a:t>Finding</a:t>
            </a:r>
          </a:p>
          <a:p>
            <a:pPr lvl="1"/>
            <a:r>
              <a:rPr lang="en-US" altLang="zh-HK" dirty="0"/>
              <a:t>The eastern area of Hong Kong is lacking recreation facilities the most. </a:t>
            </a:r>
          </a:p>
          <a:p>
            <a:r>
              <a:rPr lang="en-US" altLang="zh-HK" dirty="0"/>
              <a:t>Limitations of the finding</a:t>
            </a:r>
          </a:p>
          <a:p>
            <a:pPr lvl="1"/>
            <a:r>
              <a:rPr lang="en-US" altLang="zh-HK" dirty="0"/>
              <a:t>Only public facilities were included while privately owned are not included </a:t>
            </a:r>
          </a:p>
          <a:p>
            <a:pPr lvl="2"/>
            <a:r>
              <a:rPr lang="en-US" altLang="zh-HK" dirty="0"/>
              <a:t>It is more difficult to find the complete list of locations of these facilities </a:t>
            </a:r>
          </a:p>
          <a:p>
            <a:pPr lvl="1"/>
            <a:r>
              <a:rPr lang="en-US" altLang="zh-HK" dirty="0"/>
              <a:t>Some of the facilities are complexes and there are multiple facilities within</a:t>
            </a:r>
          </a:p>
          <a:p>
            <a:pPr lvl="2"/>
            <a:r>
              <a:rPr lang="en-US" altLang="zh-HK" dirty="0"/>
              <a:t>Further studies may need to set weightings among the facilities to give a more complete picture </a:t>
            </a:r>
          </a:p>
          <a:p>
            <a:pPr lvl="1"/>
            <a:r>
              <a:rPr lang="en-US" altLang="zh-HK" dirty="0"/>
              <a:t>Some rural districts are in close proximity to the country parks </a:t>
            </a:r>
          </a:p>
          <a:p>
            <a:pPr lvl="2"/>
            <a:r>
              <a:rPr lang="en-US" altLang="zh-HK" dirty="0"/>
              <a:t>These districts may require less recreation facilities than the other districts </a:t>
            </a:r>
          </a:p>
          <a:p>
            <a:r>
              <a:rPr lang="en-US" altLang="zh-HK" dirty="0"/>
              <a:t>Nevertheless, these findings serve as a starting point for us to look into the distribution of recreation facilities in Hong Kong</a:t>
            </a:r>
            <a:endParaRPr lang="zh-HK" altLang="en-US" dirty="0"/>
          </a:p>
        </p:txBody>
      </p:sp>
    </p:spTree>
    <p:extLst>
      <p:ext uri="{BB962C8B-B14F-4D97-AF65-F5344CB8AC3E}">
        <p14:creationId xmlns:p14="http://schemas.microsoft.com/office/powerpoint/2010/main" val="767616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6883E89-BC07-47AB-A308-30B9A3D04171}"/>
              </a:ext>
            </a:extLst>
          </p:cNvPr>
          <p:cNvSpPr>
            <a:spLocks noGrp="1"/>
          </p:cNvSpPr>
          <p:nvPr>
            <p:ph type="title"/>
          </p:nvPr>
        </p:nvSpPr>
        <p:spPr/>
        <p:txBody>
          <a:bodyPr/>
          <a:lstStyle/>
          <a:p>
            <a:r>
              <a:rPr lang="en-US" altLang="zh-HK" dirty="0"/>
              <a:t>Conclusion</a:t>
            </a:r>
            <a:endParaRPr lang="zh-HK" altLang="en-US" dirty="0"/>
          </a:p>
        </p:txBody>
      </p:sp>
      <p:sp>
        <p:nvSpPr>
          <p:cNvPr id="3" name="內容版面配置區 2">
            <a:extLst>
              <a:ext uri="{FF2B5EF4-FFF2-40B4-BE49-F238E27FC236}">
                <a16:creationId xmlns:a16="http://schemas.microsoft.com/office/drawing/2014/main" id="{77875CA4-9701-4304-A312-6DB0B32875F1}"/>
              </a:ext>
            </a:extLst>
          </p:cNvPr>
          <p:cNvSpPr>
            <a:spLocks noGrp="1"/>
          </p:cNvSpPr>
          <p:nvPr>
            <p:ph idx="1"/>
          </p:nvPr>
        </p:nvSpPr>
        <p:spPr/>
        <p:txBody>
          <a:bodyPr/>
          <a:lstStyle/>
          <a:p>
            <a:r>
              <a:rPr lang="en-US" altLang="zh-HK" dirty="0"/>
              <a:t>We found that the eastern area of Hong Kong (Sha Tin and Sai Kung district) has the least number of recreation facilities normalized by the population, although further studies have to be made to strengthen the finding.</a:t>
            </a:r>
            <a:endParaRPr lang="zh-HK" altLang="en-US" dirty="0"/>
          </a:p>
        </p:txBody>
      </p:sp>
    </p:spTree>
    <p:extLst>
      <p:ext uri="{BB962C8B-B14F-4D97-AF65-F5344CB8AC3E}">
        <p14:creationId xmlns:p14="http://schemas.microsoft.com/office/powerpoint/2010/main" val="393674376"/>
      </p:ext>
    </p:extLst>
  </p:cSld>
  <p:clrMapOvr>
    <a:masterClrMapping/>
  </p:clrMapOvr>
</p:sld>
</file>

<file path=ppt/theme/theme1.xml><?xml version="1.0" encoding="utf-8"?>
<a:theme xmlns:a="http://schemas.openxmlformats.org/drawingml/2006/main" name="多面向">
  <a:themeElements>
    <a:clrScheme name="多面向">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多面向">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多面向">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24</TotalTime>
  <Words>396</Words>
  <Application>Microsoft Office PowerPoint</Application>
  <PresentationFormat>寬螢幕</PresentationFormat>
  <Paragraphs>32</Paragraphs>
  <Slides>8</Slides>
  <Notes>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8</vt:i4>
      </vt:variant>
    </vt:vector>
  </HeadingPairs>
  <TitlesOfParts>
    <vt:vector size="12" baseType="lpstr">
      <vt:lpstr>Arial</vt:lpstr>
      <vt:lpstr>Trebuchet MS</vt:lpstr>
      <vt:lpstr>Wingdings 3</vt:lpstr>
      <vt:lpstr>多面向</vt:lpstr>
      <vt:lpstr>Applied Data Science Capstone Project </vt:lpstr>
      <vt:lpstr>Introduction </vt:lpstr>
      <vt:lpstr>Data</vt:lpstr>
      <vt:lpstr>Methodology </vt:lpstr>
      <vt:lpstr>Result</vt:lpstr>
      <vt:lpstr>PowerPoint 簡報</vt:lpstr>
      <vt:lpstr>Discussion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Applied Data Science Capstone Project</dc:title>
  <dc:creator>INSTR-ADMIN</dc:creator>
  <cp:lastModifiedBy>INSTR-ADMIN</cp:lastModifiedBy>
  <cp:revision>3</cp:revision>
  <dcterms:created xsi:type="dcterms:W3CDTF">2020-04-16T04:44:04Z</dcterms:created>
  <dcterms:modified xsi:type="dcterms:W3CDTF">2020-04-16T05:08:06Z</dcterms:modified>
</cp:coreProperties>
</file>